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0" r:id="rId2"/>
    <p:sldId id="257" r:id="rId3"/>
    <p:sldId id="260" r:id="rId4"/>
    <p:sldId id="278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4" r:id="rId15"/>
    <p:sldId id="282" r:id="rId16"/>
    <p:sldId id="275" r:id="rId17"/>
    <p:sldId id="276" r:id="rId18"/>
    <p:sldId id="27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9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2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98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19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hyperlink" Target="https://github.com/madhavknsl/ReVoltX" TargetMode="External"/><Relationship Id="rId4" Type="http://schemas.openxmlformats.org/officeDocument/2006/relationships/hyperlink" Target="https://revoltx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9A8B7-8A3D-CCBA-1986-2CCA5A0C7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2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throws away energy, not just batteries.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packs retire with most of their value intact — and today, that value simply leaks away.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892808"/>
            <a:ext cx="310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" y="2724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still remaining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~8 years, when packs are retired from vehicle use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78808" y="17830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15968" y="1892808"/>
            <a:ext cx="310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₹3–4.4L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15968" y="2724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battery cost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1596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EV pack price when new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90688" y="1783080"/>
            <a:ext cx="3822192" cy="1508760"/>
          </a:xfrm>
          <a:prstGeom prst="roundRect">
            <a:avLst>
              <a:gd name="adj" fmla="val 545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27848" y="1892808"/>
            <a:ext cx="35478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₹30–40K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27848" y="272491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owners get today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27848" y="29992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weight-based scrap payout — no health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3520440"/>
            <a:ext cx="11057839" cy="2606040"/>
          </a:xfrm>
          <a:prstGeom prst="roundRect">
            <a:avLst>
              <a:gd name="adj" fmla="val 3158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3675888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BETWEEN "RETIRED" AND "RECYCLED"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0" name="Image 0" descr="/private/tmp/claude-501/-Users-madhavkansal/2f529faf-ff43-4813-b977-f37533a75d11/scratchpad/revoltx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4155948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08176" y="402336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health verification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408176" y="42976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 are priced by age or weight, not measured condition.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20514" y="4041648"/>
            <a:ext cx="457200" cy="45720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4" name="Image 1" descr="/private/tmp/claude-501/-Users-madhavkansal/2f529faf-ff43-4813-b977-f37533a75d11/scratchpad/revoltx/icons/certific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814" y="4155948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7442" y="402336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certification or passport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987442" y="42976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record of capacity, safety, or history follows the pack.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999781" y="4041648"/>
            <a:ext cx="457200" cy="45720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8" name="Image 2" descr="/private/tmp/claude-501/-Users-madhavkansal/2f529faf-ff43-4813-b977-f37533a75d11/scratchpad/revoltx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081" y="415594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566709" y="402336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warranty or insurance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566709" y="42976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repurposed battery that fails has nowhere to point the liability.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841248" y="5001768"/>
            <a:ext cx="457200" cy="45720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2" name="Image 3" descr="/private/tmp/claude-501/-Users-madhavkansal/2f529faf-ff43-4813-b977-f37533a75d11/scratchpad/revoltx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" y="5116068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08176" y="498348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trusted buyer network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1408176" y="525780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Telecom, solar and charging operators have no safe way to source "used" cells.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420514" y="5001768"/>
            <a:ext cx="457200" cy="45720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6" name="Image 4" descr="/private/tmp/claude-501/-Users-madhavkansal/2f529faf-ff43-4813-b977-f37533a75d11/scratchpad/revoltx/icons/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4814" y="5116068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987442" y="498348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organized logistics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4987442" y="525780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is fragmented — batteries move ad hoc to whoever pays cash first.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7999781" y="5001768"/>
            <a:ext cx="457200" cy="45720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40" name="Image 5" descr="/private/tmp/claude-501/-Users-madhavkansal/2f529faf-ff43-4813-b977-f37533a75d11/scratchpad/revoltx/icons/balancesca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4081" y="5116068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566709" y="498348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captured by informal channels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8566709" y="525780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 dealers and dismantlers under-price residual capacity and under-deliver on safety.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PS6 — EV Battery Second-Life Economics problem statement; ReVoltX market observation. ₹ figures are planning assumptions, not vendor quotations.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ACQUISITION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door to ReVoltX feels effortless.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ENTRY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2537460" cy="658368"/>
          </a:xfrm>
          <a:prstGeom prst="roundRect">
            <a:avLst>
              <a:gd name="adj" fmla="val 111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240280"/>
            <a:ext cx="420624" cy="420624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7" name="Image 0" descr="/private/tmp/claude-501/-Users-madhavkansal/2f529faf-ff43-4813-b977-f37533a75d11/scratchpad/revoltx/icons/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84" y="2334920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2121408"/>
            <a:ext cx="1732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78708" y="2121408"/>
            <a:ext cx="2537460" cy="658368"/>
          </a:xfrm>
          <a:prstGeom prst="roundRect">
            <a:avLst>
              <a:gd name="adj" fmla="val 111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6724" y="2240280"/>
            <a:ext cx="420624" cy="420624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1" name="Image 1" descr="/private/tmp/claude-501/-Users-madhavkansal/2f529faf-ff43-4813-b977-f37533a75d11/scratchpad/revoltx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364" y="2334920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5364" y="2121408"/>
            <a:ext cx="1732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2926080"/>
            <a:ext cx="2537460" cy="658368"/>
          </a:xfrm>
          <a:prstGeom prst="roundRect">
            <a:avLst>
              <a:gd name="adj" fmla="val 111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4944" y="3044952"/>
            <a:ext cx="420624" cy="420624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5" name="Image 2" descr="/private/tmp/claude-501/-Users-madhavkansal/2f529faf-ff43-4813-b977-f37533a75d11/scratchpad/revoltx/icons/whats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84" y="3139592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3584" y="2926080"/>
            <a:ext cx="1732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378708" y="2926080"/>
            <a:ext cx="2537460" cy="658368"/>
          </a:xfrm>
          <a:prstGeom prst="roundRect">
            <a:avLst>
              <a:gd name="adj" fmla="val 111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506724" y="3044952"/>
            <a:ext cx="420624" cy="420624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9" name="Image 3" descr="/private/tmp/claude-501/-Users-madhavkansal/2f529faf-ff43-4813-b977-f37533a75d11/scratchpad/revoltx/icons/heads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364" y="3139592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55364" y="2926080"/>
            <a:ext cx="1732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Toll-Free Support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66928" y="3730752"/>
            <a:ext cx="2537460" cy="658368"/>
          </a:xfrm>
          <a:prstGeom prst="roundRect">
            <a:avLst>
              <a:gd name="adj" fmla="val 111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" y="3849624"/>
            <a:ext cx="420624" cy="420624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3" name="Image 4" descr="/private/tmp/claude-501/-Users-madhavkansal/2f529faf-ff43-4813-b977-f37533a75d11/scratchpad/revoltx/icons/envel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584" y="3944264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43584" y="3730752"/>
            <a:ext cx="1732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 &amp; Email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378708" y="3730752"/>
            <a:ext cx="2537460" cy="658368"/>
          </a:xfrm>
          <a:prstGeom prst="roundRect">
            <a:avLst>
              <a:gd name="adj" fmla="val 111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506724" y="3849624"/>
            <a:ext cx="420624" cy="420624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7" name="Image 5" descr="/private/tmp/claude-501/-Users-madhavkansal/2f529faf-ff43-4813-b977-f37533a75d11/scratchpad/revoltx/icons/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364" y="3944264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55364" y="3730752"/>
            <a:ext cx="1732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66928" y="4663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795528" y="48006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OWNERS SAY YES</a:t>
            </a:r>
            <a:endParaRPr lang="en-US" sz="1050" dirty="0"/>
          </a:p>
        </p:txBody>
      </p:sp>
      <p:pic>
        <p:nvPicPr>
          <p:cNvPr id="31" name="Image 6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5102352"/>
            <a:ext cx="146304" cy="14630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24128" y="5029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doorstep pickup slots — no waiting for a roving collector</a:t>
            </a:r>
            <a:endParaRPr lang="en-US" sz="1000" dirty="0"/>
          </a:p>
        </p:txBody>
      </p:sp>
      <p:pic>
        <p:nvPicPr>
          <p:cNvPr id="33" name="Image 7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5394960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24128" y="5321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diagnostic day + self-check guide before any commitment</a:t>
            </a:r>
            <a:endParaRPr lang="en-US" sz="1000" dirty="0"/>
          </a:p>
        </p:txBody>
      </p:sp>
      <p:pic>
        <p:nvPicPr>
          <p:cNvPr id="35" name="Image 8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5687568"/>
            <a:ext cx="146304" cy="14630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24128" y="56144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coupons on partner eco-brands &amp; utility bills for every battery handed over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6236208" y="1783080"/>
            <a:ext cx="5388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DOORSTEP CERTIFIED INSPECTION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6236208" y="2121408"/>
            <a:ext cx="5388559" cy="3959352"/>
          </a:xfrm>
          <a:prstGeom prst="roundRect">
            <a:avLst>
              <a:gd name="adj" fmla="val 2079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9" name="Image 9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389442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784848" y="2249424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visual inspection</a:t>
            </a:r>
            <a:endParaRPr lang="en-US" sz="1200" dirty="0"/>
          </a:p>
        </p:txBody>
      </p:sp>
      <p:pic>
        <p:nvPicPr>
          <p:cNvPr id="41" name="Image 10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852357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784848" y="2712339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diagnostics</a:t>
            </a:r>
            <a:endParaRPr lang="en-US" sz="1200" dirty="0"/>
          </a:p>
        </p:txBody>
      </p:sp>
      <p:pic>
        <p:nvPicPr>
          <p:cNvPr id="43" name="Image 11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315272"/>
            <a:ext cx="182880" cy="18288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784848" y="3175254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BMS scan</a:t>
            </a:r>
            <a:endParaRPr lang="en-US" sz="1200" dirty="0"/>
          </a:p>
        </p:txBody>
      </p:sp>
      <p:pic>
        <p:nvPicPr>
          <p:cNvPr id="45" name="Image 12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778187"/>
            <a:ext cx="182880" cy="18288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784848" y="3638169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imaging analysis</a:t>
            </a:r>
            <a:endParaRPr lang="en-US" sz="1200" dirty="0"/>
          </a:p>
        </p:txBody>
      </p:sp>
      <p:pic>
        <p:nvPicPr>
          <p:cNvPr id="47" name="Image 13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241102"/>
            <a:ext cx="182880" cy="18288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784848" y="4101084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voltage balancing check</a:t>
            </a:r>
            <a:endParaRPr lang="en-US" sz="1200" dirty="0"/>
          </a:p>
        </p:txBody>
      </p:sp>
      <p:pic>
        <p:nvPicPr>
          <p:cNvPr id="49" name="Image 14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704017"/>
            <a:ext cx="182880" cy="18288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784848" y="4563999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health &amp; consistency</a:t>
            </a:r>
            <a:endParaRPr lang="en-US" sz="1200" dirty="0"/>
          </a:p>
        </p:txBody>
      </p:sp>
      <p:pic>
        <p:nvPicPr>
          <p:cNvPr id="51" name="Image 15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166932"/>
            <a:ext cx="182880" cy="182880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784848" y="5026914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Charging-cycle history</a:t>
            </a:r>
            <a:endParaRPr lang="en-US" sz="1200" dirty="0"/>
          </a:p>
        </p:txBody>
      </p:sp>
      <p:pic>
        <p:nvPicPr>
          <p:cNvPr id="53" name="Image 16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629847"/>
            <a:ext cx="182880" cy="182880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6784848" y="5489829"/>
            <a:ext cx="4611319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Insulation &amp; safety inspection</a:t>
            </a:r>
            <a:endParaRPr lang="en-US" sz="1200" dirty="0"/>
          </a:p>
        </p:txBody>
      </p:sp>
      <p:sp>
        <p:nvSpPr>
          <p:cNvPr id="55" name="Text 36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checklist adapted from ReVoltX battery risk-assessment protocol (BMS interrogation + independent diagnostics).</a:t>
            </a:r>
            <a:endParaRPr lang="en-US" sz="850" dirty="0"/>
          </a:p>
        </p:txBody>
      </p:sp>
      <p:sp>
        <p:nvSpPr>
          <p:cNvPr id="56" name="Text 37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7" name="Text 38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E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VERIFICATION LAYERS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on Which Testing Will Be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2E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BMS INTERROGATION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11F3A"/>
          </a:solidFill>
          <a:ln w="12700">
            <a:solidFill>
              <a:srgbClr val="2E5BF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directly from the pack's own battery management system.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892040" cy="3200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— State of Health (remaining usable capacity vs. original capacity)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voltages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Temperatures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history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information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information (if available)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2E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YOUR OWN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11F3A"/>
          </a:solidFill>
          <a:ln w="12700">
            <a:solidFill>
              <a:srgbClr val="2E5BF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286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physical verification beyond what the BMS reports.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4892040" cy="3200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capacity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resistance / impedance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Insulation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behaviour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/ module consistency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/ body damage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8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Interrogation parameters per ReVoltX battery risk-assessment &amp; certification protocol.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0B5DAD-AACE-30DC-ACAB-DA4B7B9B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04" y="0"/>
            <a:ext cx="12273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6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TRUST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grading turns "used" into "verified."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BATTERY GRADE (by measured SoH)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6309360" cy="15621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SoH Range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Second Life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EV life / high-power BESS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B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70–80%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Telecom tower backup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CB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60–70%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charging buffer / solar storage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30–60%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Street, traffic &amp; emergency lighting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30% / unsafe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deployment — certified recycling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7091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PERFORMANCE INDEX</a:t>
            </a:r>
            <a:endParaRPr lang="en-US" sz="1150" dirty="0"/>
          </a:p>
        </p:txBody>
      </p:sp>
      <p:sp>
        <p:nvSpPr>
          <p:cNvPr id="5" name="Shape 4"/>
          <p:cNvSpPr/>
          <p:nvPr/>
        </p:nvSpPr>
        <p:spPr>
          <a:xfrm>
            <a:off x="566928" y="5010912"/>
            <a:ext cx="6309360" cy="1051560"/>
          </a:xfrm>
          <a:prstGeom prst="roundRect">
            <a:avLst>
              <a:gd name="adj" fmla="val 7826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51206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Index  =  State of Health  ×  Maximum Output Power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55138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sortable score the AI marketplace uses to auto-match every pack to its ideal buyer — not just its grade letter.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42048" y="1783080"/>
            <a:ext cx="4382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 DIGITAL BATTERY PASSPORT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42048" y="2103120"/>
            <a:ext cx="4382719" cy="3977640"/>
          </a:xfrm>
          <a:prstGeom prst="roundRect">
            <a:avLst>
              <a:gd name="adj" fmla="val 2069"/>
            </a:avLst>
          </a:prstGeom>
          <a:solidFill>
            <a:srgbClr val="10162A"/>
          </a:solidFill>
          <a:ln w="12700">
            <a:solidFill>
              <a:srgbClr val="2F8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067648" y="2286000"/>
            <a:ext cx="731520" cy="731520"/>
          </a:xfrm>
          <a:prstGeom prst="ellipse">
            <a:avLst/>
          </a:prstGeom>
          <a:solidFill>
            <a:srgbClr val="2F8FFF">
              <a:alpha val="90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3" name="Image 0" descr="/private/tmp/claude-501/-Users-madhavkansal/2f529faf-ff43-4813-b977-f37533a75d11/scratchpad/revoltx/icons/qr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240" y="24505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70648" y="3127248"/>
            <a:ext cx="3925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ID · RVX-2026-00184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16368" y="3474720"/>
            <a:ext cx="383407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pic>
        <p:nvPicPr>
          <p:cNvPr id="16" name="Image 1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630168"/>
            <a:ext cx="137160" cy="1371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17536" y="3584448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identity &amp; chemistry</a:t>
            </a:r>
            <a:endParaRPr lang="en-US" sz="970" dirty="0"/>
          </a:p>
        </p:txBody>
      </p:sp>
      <p:pic>
        <p:nvPicPr>
          <p:cNvPr id="18" name="Image 2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931920"/>
            <a:ext cx="137160" cy="1371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17536" y="3886200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application &amp; age</a:t>
            </a:r>
            <a:endParaRPr lang="en-US" sz="970" dirty="0"/>
          </a:p>
        </p:txBody>
      </p:sp>
      <p:pic>
        <p:nvPicPr>
          <p:cNvPr id="20" name="Image 3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233672"/>
            <a:ext cx="137160" cy="1371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17536" y="4187952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Charge-cycle history</a:t>
            </a:r>
            <a:endParaRPr lang="en-US" sz="970" dirty="0"/>
          </a:p>
        </p:txBody>
      </p:sp>
      <p:pic>
        <p:nvPicPr>
          <p:cNvPr id="22" name="Image 4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535424"/>
            <a:ext cx="137160" cy="1371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17536" y="4489704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capacity &amp; thermal behavior</a:t>
            </a:r>
            <a:endParaRPr lang="en-US" sz="970" dirty="0"/>
          </a:p>
        </p:txBody>
      </p:sp>
      <p:pic>
        <p:nvPicPr>
          <p:cNvPr id="24" name="Image 5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837176"/>
            <a:ext cx="137160" cy="1371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717536" y="4791456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Module-level test results</a:t>
            </a:r>
            <a:endParaRPr lang="en-US" sz="970" dirty="0"/>
          </a:p>
        </p:txBody>
      </p:sp>
      <p:pic>
        <p:nvPicPr>
          <p:cNvPr id="26" name="Image 6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138928"/>
            <a:ext cx="137160" cy="1371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717536" y="5093208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Refurbishment date &amp; operating limits</a:t>
            </a:r>
            <a:endParaRPr lang="en-US" sz="970" dirty="0"/>
          </a:p>
        </p:txBody>
      </p:sp>
      <p:pic>
        <p:nvPicPr>
          <p:cNvPr id="28" name="Image 7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440680"/>
            <a:ext cx="137160" cy="13716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717536" y="5394960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terms</a:t>
            </a:r>
            <a:endParaRPr lang="en-US" sz="970" dirty="0"/>
          </a:p>
        </p:txBody>
      </p:sp>
      <p:pic>
        <p:nvPicPr>
          <p:cNvPr id="30" name="Image 8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742432"/>
            <a:ext cx="137160" cy="13716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717536" y="5696712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disposition</a:t>
            </a:r>
            <a:endParaRPr lang="en-US" sz="970" dirty="0"/>
          </a:p>
        </p:txBody>
      </p:sp>
      <p:sp>
        <p:nvSpPr>
          <p:cNvPr id="32" name="Text 20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bands adapted from ReVoltX battery risk-assessment &amp; certification protocol; passport fields per PS6 concept report.</a:t>
            </a:r>
            <a:endParaRPr lang="en-US" sz="850" dirty="0"/>
          </a:p>
        </p:txBody>
      </p:sp>
      <p:sp>
        <p:nvSpPr>
          <p:cNvPr id="33" name="Text 21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REVERSE LOGISTICS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Aggregation, not a one-off courier run.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BATTERIES REACH 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231136"/>
            <a:ext cx="475488" cy="47548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7" name="Image 0" descr="/private/tmp/claude-501/-Users-madhavkansal/2f529faf-ff43-4813-b977-f37533a75d11/scratchpad/revoltx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9" y="23381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762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&amp; service-centre referrals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245059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shared at the point of EV purchase / service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2944368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" y="3072384"/>
            <a:ext cx="475488" cy="47548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2" name="Image 1" descr="/private/tmp/claude-501/-Users-madhavkansal/2f529faf-ff43-4813-b977-f37533a75d11/scratchpad/revoltx/icons/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9" y="317936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collection vans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80160" y="32918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regional routes to reach owners directly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6928" y="3785616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" y="3913632"/>
            <a:ext cx="475488" cy="47548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7" name="Image 2" descr="/private/tmp/claude-501/-Users-madhavkansal/2f529faf-ff43-4813-b977-f37533a75d11/scratchpad/revoltx/icons/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9" y="402061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58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Kabadiwala network partnerships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80160" y="413308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Formalizing informal collectors already in the field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66928" y="4626864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" y="4754880"/>
            <a:ext cx="475488" cy="47548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2" name="Image 3" descr="/private/tmp/claude-501/-Users-madhavkansal/2f529faf-ff43-4813-b977-f37533a75d11/scratchpad/revoltx/icons/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29" y="4861865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470001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+ details upload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280160" y="497433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self-register a battery on web or app before pickup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693408" y="1783080"/>
            <a:ext cx="4931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COMPLIANT, TRACKED TRANSIT</a:t>
            </a:r>
            <a:endParaRPr lang="en-US" sz="1200" dirty="0"/>
          </a:p>
        </p:txBody>
      </p:sp>
      <p:pic>
        <p:nvPicPr>
          <p:cNvPr id="26" name="Image 4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2157984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9440" y="2121408"/>
            <a:ext cx="4657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GPS-tracked movement</a:t>
            </a:r>
            <a:endParaRPr lang="en-US" sz="1150" dirty="0"/>
          </a:p>
        </p:txBody>
      </p:sp>
      <p:pic>
        <p:nvPicPr>
          <p:cNvPr id="28" name="Image 5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248716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49440" y="2450592"/>
            <a:ext cx="4657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Tamper-proof, shock-proof packaging</a:t>
            </a:r>
            <a:endParaRPr lang="en-US" sz="1150" dirty="0"/>
          </a:p>
        </p:txBody>
      </p:sp>
      <p:pic>
        <p:nvPicPr>
          <p:cNvPr id="30" name="Image 6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2816352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49440" y="2779776"/>
            <a:ext cx="4657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In-transit battery insurance</a:t>
            </a:r>
            <a:endParaRPr lang="en-US" sz="1150" dirty="0"/>
          </a:p>
        </p:txBody>
      </p:sp>
      <p:pic>
        <p:nvPicPr>
          <p:cNvPr id="32" name="Image 7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145536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49440" y="3108960"/>
            <a:ext cx="4657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hazmat-compliant carriers</a:t>
            </a:r>
            <a:endParaRPr lang="en-US" sz="1150" dirty="0"/>
          </a:p>
        </p:txBody>
      </p:sp>
      <p:pic>
        <p:nvPicPr>
          <p:cNvPr id="34" name="Image 8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474720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949440" y="3438144"/>
            <a:ext cx="4657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chain-of-custody per pack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6693408" y="3977640"/>
            <a:ext cx="4931359" cy="2103120"/>
          </a:xfrm>
          <a:prstGeom prst="roundRect">
            <a:avLst>
              <a:gd name="adj" fmla="val 3913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26"/>
          <p:cNvSpPr/>
          <p:nvPr/>
        </p:nvSpPr>
        <p:spPr>
          <a:xfrm>
            <a:off x="6922008" y="4114800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LOGISTICS ECONOMICS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6922008" y="4407408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₹5,000–₹10,000</a:t>
            </a:r>
            <a:endParaRPr lang="en-US" sz="2600" dirty="0"/>
          </a:p>
        </p:txBody>
      </p:sp>
      <p:sp>
        <p:nvSpPr>
          <p:cNvPr id="39" name="Text 28"/>
          <p:cNvSpPr/>
          <p:nvPr/>
        </p:nvSpPr>
        <p:spPr>
          <a:xfrm>
            <a:off x="6922008" y="4892040"/>
            <a:ext cx="44741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200 km move of a ~400 kg safe, retired-battery load — a pilot planning estimate, not a carrier quote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6922008" y="5440680"/>
            <a:ext cx="447415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6922008" y="5532120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consolidating multiple batteries per route drives the effective cost per battery down.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channels per ReVoltX aggregation strategy; transit cost per PS6 concept report §9 (pilot estimate).</a:t>
            </a:r>
            <a:endParaRPr lang="en-US" sz="850" dirty="0"/>
          </a:p>
        </p:txBody>
      </p:sp>
      <p:sp>
        <p:nvSpPr>
          <p:cNvPr id="43" name="Text 32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AI SMART MARKETPLACE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engine. Three energy-hungry buyers.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472586" cy="3246120"/>
          </a:xfrm>
          <a:prstGeom prst="roundRect">
            <a:avLst>
              <a:gd name="adj" fmla="val 253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9173" y="2441448"/>
            <a:ext cx="768096" cy="768096"/>
          </a:xfrm>
          <a:prstGeom prst="ellipse">
            <a:avLst/>
          </a:prstGeom>
          <a:solidFill>
            <a:srgbClr val="39FF88">
              <a:alpha val="8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6" name="Image 0" descr="/private/tmp/claude-501/-Users-madhavkansal/2f529faf-ff43-4813-b977-f37533a75d11/scratchpad/revoltx/icons/solar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197" y="26334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383280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Energy Storage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9605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Homes, campuses, factories &amp; rural microgrids that need to bank daytime solar for the night.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00301" y="48920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F8FFF"/>
          </a:solidFill>
          <a:ln/>
        </p:spPr>
      </p:sp>
      <p:sp>
        <p:nvSpPr>
          <p:cNvPr id="10" name="Text 7"/>
          <p:cNvSpPr/>
          <p:nvPr/>
        </p:nvSpPr>
        <p:spPr>
          <a:xfrm>
            <a:off x="1800301" y="4892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59554" y="2148840"/>
            <a:ext cx="3472586" cy="3246120"/>
          </a:xfrm>
          <a:prstGeom prst="roundRect">
            <a:avLst>
              <a:gd name="adj" fmla="val 253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1800" y="2441448"/>
            <a:ext cx="768096" cy="768096"/>
          </a:xfrm>
          <a:prstGeom prst="ellipse">
            <a:avLst/>
          </a:prstGeom>
          <a:solidFill>
            <a:srgbClr val="39FF88">
              <a:alpha val="8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3" name="Image 1" descr="/private/tmp/claude-501/-Users-madhavkansal/2f529faf-ff43-4813-b977-f37533a75d11/scratchpad/revoltx/icons/t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824" y="26334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2434" y="3383280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Towers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15586" y="3931920"/>
            <a:ext cx="29605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~0.78M sites nationwide still leaning on diesel for backup power.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592928" y="48920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F8FFF"/>
          </a:solidFill>
          <a:ln/>
        </p:spPr>
      </p:sp>
      <p:sp>
        <p:nvSpPr>
          <p:cNvPr id="17" name="Text 13"/>
          <p:cNvSpPr/>
          <p:nvPr/>
        </p:nvSpPr>
        <p:spPr>
          <a:xfrm>
            <a:off x="5592928" y="4892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2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52181" y="2148840"/>
            <a:ext cx="3472586" cy="3246120"/>
          </a:xfrm>
          <a:prstGeom prst="roundRect">
            <a:avLst>
              <a:gd name="adj" fmla="val 253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04426" y="2441448"/>
            <a:ext cx="768096" cy="768096"/>
          </a:xfrm>
          <a:prstGeom prst="ellipse">
            <a:avLst/>
          </a:prstGeom>
          <a:solidFill>
            <a:srgbClr val="39FF88">
              <a:alpha val="8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20" name="Image 2" descr="/private/tmp/claude-501/-Users-madhavkansal/2f529faf-ff43-4813-b977-f37533a75d11/scratchpad/revoltx/icons/chargings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450" y="263347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5061" y="3383280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Stations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08213" y="3931920"/>
            <a:ext cx="29605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chargers that spike grid demand and need a buffer to avoid costly upgrades.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385554" y="48920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F8FFF"/>
          </a:solidFill>
          <a:ln/>
        </p:spPr>
      </p:sp>
      <p:sp>
        <p:nvSpPr>
          <p:cNvPr id="24" name="Text 19"/>
          <p:cNvSpPr/>
          <p:nvPr/>
        </p:nvSpPr>
        <p:spPr>
          <a:xfrm>
            <a:off x="9385554" y="4892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3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66928" y="56235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 4th, lower-grade lane: street, traffic &amp; emergency lighting for Grade-C packs (30–60% SoH).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1 — SOLAR ENERGY STORAGE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home has a battery-sized energy problem.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LOAD MATCHING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6492240" cy="10439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Type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Need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Source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apartment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5–10 kWh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hybrid packs / single Leaf 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home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 kWh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compact BEV pack (~40 kWh)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home / villa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30–50+ kWh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long-range pack or parallel packs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7947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MATTERS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4114800"/>
            <a:ext cx="3131820" cy="1371600"/>
          </a:xfrm>
          <a:prstGeom prst="roundRect">
            <a:avLst>
              <a:gd name="adj" fmla="val 60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" y="422452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 (LiFePO₄)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4517136"/>
            <a:ext cx="27660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safe, long cycle life, thermal-stable → preferred for indoor home storage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3927348" y="4114800"/>
            <a:ext cx="3131820" cy="1371600"/>
          </a:xfrm>
          <a:prstGeom prst="roundRect">
            <a:avLst>
              <a:gd name="adj" fmla="val 60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10228" y="422452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NMC / NCA</a:t>
            </a:r>
            <a:endParaRPr lang="en-US" sz="1300" dirty="0"/>
          </a:p>
        </p:txBody>
      </p:sp>
      <p:sp>
        <p:nvSpPr>
          <p:cNvPr id="5" name="Text 9"/>
          <p:cNvSpPr/>
          <p:nvPr/>
        </p:nvSpPr>
        <p:spPr>
          <a:xfrm>
            <a:off x="4110228" y="4517136"/>
            <a:ext cx="27660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energy density, compact → outdoor, well-ventilated cabinet installs with strict BMS control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7379208" y="1783080"/>
            <a:ext cx="4245559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516368" y="1892808"/>
            <a:ext cx="39712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41.65 GW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516368" y="2633472"/>
            <a:ext cx="3971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BESS requirement by FY30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16368" y="2907792"/>
            <a:ext cx="3971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Electricity Authority, Optimal Generation Mix 2030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79208" y="3383280"/>
            <a:ext cx="4245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</a:t>
            </a:r>
            <a:endParaRPr lang="en-US" sz="1150" dirty="0"/>
          </a:p>
        </p:txBody>
      </p:sp>
      <p:pic>
        <p:nvPicPr>
          <p:cNvPr id="18" name="Image 0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3721608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35240" y="3675888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rooftop solar</a:t>
            </a:r>
            <a:endParaRPr lang="en-US" sz="1150" dirty="0"/>
          </a:p>
        </p:txBody>
      </p:sp>
      <p:pic>
        <p:nvPicPr>
          <p:cNvPr id="20" name="Image 1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4105656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35240" y="4059936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&amp; industrial (C&amp;I) sites</a:t>
            </a:r>
            <a:endParaRPr lang="en-US" sz="1150" dirty="0"/>
          </a:p>
        </p:txBody>
      </p:sp>
      <p:pic>
        <p:nvPicPr>
          <p:cNvPr id="22" name="Image 2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4489704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443984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Factories &amp; schools</a:t>
            </a:r>
            <a:endParaRPr lang="en-US" sz="1150" dirty="0"/>
          </a:p>
        </p:txBody>
      </p:sp>
      <p:pic>
        <p:nvPicPr>
          <p:cNvPr id="24" name="Image 3" descr="/private/tmp/claude-501/-Users-madhavkansal/2f529faf-ff43-4813-b977-f37533a75d11/scratchpad/revoltx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4873752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35240" y="4828032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microgrids &amp; electrification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segment sizing per ReVoltX residential storage model; BESS target: CEA "Optimal Generation Mix 2030" / MNRE roadmap (41.65 GW BESS of 60.63 GW total storage by FY30).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2 — TELECOM TOWERS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diesel-powered towers are a captive market.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206240" cy="1600200"/>
          </a:xfrm>
          <a:prstGeom prst="roundRect">
            <a:avLst>
              <a:gd name="adj" fmla="val 5143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892808"/>
            <a:ext cx="3931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~0.78M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04088" y="28163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towers in India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/ Indiastat, telecom infrastructure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3566160"/>
            <a:ext cx="4206240" cy="2468880"/>
          </a:xfrm>
          <a:prstGeom prst="roundRect">
            <a:avLst>
              <a:gd name="adj" fmla="val 3333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URGENT 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40233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and Indus Towers publicly reported (Q4 FY26) that they are intensifying efforts to cut diesel dependence by transitioning to high-powered batteries and alternate energy sources across their tower fleet.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5528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diesel prices and 4–6 hour daily grid outages in several states are only accelerating the shift.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38928" y="1783080"/>
            <a:ext cx="6485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GRADE B+/B PACKS ARE THE RIGHT 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38928" y="2121408"/>
            <a:ext cx="6485839" cy="859536"/>
          </a:xfrm>
          <a:prstGeom prst="roundRect">
            <a:avLst>
              <a:gd name="adj" fmla="val 85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85232" y="2267712"/>
            <a:ext cx="566928" cy="56692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5" name="Image 0" descr="/private/tmp/claude-501/-Users-madhavkansal/2f529faf-ff43-4813-b977-f37533a75d11/scratchpad/revoltx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295" y="2403775"/>
            <a:ext cx="294803" cy="2948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98464" y="2212848"/>
            <a:ext cx="547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Backup, not daily-cycling duty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98464" y="2505456"/>
            <a:ext cx="5479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Towers need standby energy for outage windows, not EV-grade power bursts — ideal for 70–80% SoH packs.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5138928" y="3108960"/>
            <a:ext cx="6485839" cy="859536"/>
          </a:xfrm>
          <a:prstGeom prst="roundRect">
            <a:avLst>
              <a:gd name="adj" fmla="val 85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85232" y="3255264"/>
            <a:ext cx="566928" cy="56692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0" name="Image 1" descr="/private/tmp/claude-501/-Users-madhavkansal/2f529faf-ff43-4813-b977-f37533a75d11/scratchpad/revoltx/icons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295" y="3391327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98464" y="3200400"/>
            <a:ext cx="547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OPEX than diesel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998464" y="3493008"/>
            <a:ext cx="5479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Displaces recurring fuel + generator maintenance cost with a one-time storage asset.</a:t>
            </a:r>
            <a:endParaRPr lang="en-US" sz="970" dirty="0"/>
          </a:p>
        </p:txBody>
      </p:sp>
      <p:sp>
        <p:nvSpPr>
          <p:cNvPr id="23" name="Shape 19"/>
          <p:cNvSpPr/>
          <p:nvPr/>
        </p:nvSpPr>
        <p:spPr>
          <a:xfrm>
            <a:off x="5138928" y="4096512"/>
            <a:ext cx="6485839" cy="859536"/>
          </a:xfrm>
          <a:prstGeom prst="roundRect">
            <a:avLst>
              <a:gd name="adj" fmla="val 85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285232" y="4242816"/>
            <a:ext cx="566928" cy="56692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5" name="Image 2" descr="/private/tmp/claude-501/-Users-madhavkansal/2f529faf-ff43-4813-b977-f37533a75d11/scratchpad/revoltx/icons/le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1295" y="4378879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98464" y="4187952"/>
            <a:ext cx="547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reporting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998464" y="4480560"/>
            <a:ext cx="5479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Diesel-to-battery conversion is a visible ESG win telcos already say they want.</a:t>
            </a:r>
            <a:endParaRPr lang="en-US" sz="970" dirty="0"/>
          </a:p>
        </p:txBody>
      </p:sp>
      <p:sp>
        <p:nvSpPr>
          <p:cNvPr id="28" name="Shape 23"/>
          <p:cNvSpPr/>
          <p:nvPr/>
        </p:nvSpPr>
        <p:spPr>
          <a:xfrm>
            <a:off x="5138928" y="5084064"/>
            <a:ext cx="6485839" cy="859536"/>
          </a:xfrm>
          <a:prstGeom prst="roundRect">
            <a:avLst>
              <a:gd name="adj" fmla="val 8511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285232" y="5230368"/>
            <a:ext cx="566928" cy="566928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30" name="Image 3" descr="/private/tmp/claude-501/-Users-madhavkansal/2f529faf-ff43-4813-b977-f37533a75d11/scratchpad/revoltx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1295" y="5366431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998464" y="5175504"/>
            <a:ext cx="547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monitored load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998464" y="5468112"/>
            <a:ext cx="5479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Stationary, temperature-controlled cabinets — the safest second-life environment for a retired pack.</a:t>
            </a:r>
            <a:endParaRPr lang="en-US" sz="970" dirty="0"/>
          </a:p>
        </p:txBody>
      </p:sp>
      <p:sp>
        <p:nvSpPr>
          <p:cNvPr id="33" name="Text 27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count: DoT Telecom Statistics / Indiastat (~0.78M towers, FY24). Diesel-reduction context: Airtel–Indus Towers Q4 FY26 disclosures (Voice&amp;Data, TelecomTalk).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3 — EV CHARGING STATIONS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chargers need a buffer — retired packs are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CHARGING STATIONS NEED STORAGE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240280"/>
            <a:ext cx="548640" cy="54864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7" name="Image 0" descr="/private/tmp/claude-501/-Users-madhavkansal/2f529faf-ff43-4813-b977-f37533a75d11/scratchpad/revoltx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2" y="23719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21854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grid load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89888" y="24688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charger can spike demand instantly; buffer storage absorbs part of that peak.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566928" y="306324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" y="3200400"/>
            <a:ext cx="548640" cy="54864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2" name="Image 1" descr="/private/tmp/claude-501/-Users-madhavkansal/2f529faf-ff43-4813-b977-f37533a75d11/scratchpad/revoltx/icons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2" y="33320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9888" y="31455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costly grid upgrades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89888" y="34290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a higher-capacity transformer &amp; connection at sites with limited grid capacity.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566928" y="402336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4160520"/>
            <a:ext cx="548640" cy="54864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7" name="Image 2" descr="/private/tmp/claude-501/-Users-madhavkansal/2f529faf-ff43-4813-b977-f37533a75d11/scratchpad/revoltx/icons/cloud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2" y="42921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9888" y="41056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solar for peak hours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89888" y="43891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daytime solar generation, discharge it as vehicles arrive to charge.</a:t>
            </a:r>
            <a:endParaRPr lang="en-US" sz="970" dirty="0"/>
          </a:p>
        </p:txBody>
      </p:sp>
      <p:sp>
        <p:nvSpPr>
          <p:cNvPr id="20" name="Shape 15"/>
          <p:cNvSpPr/>
          <p:nvPr/>
        </p:nvSpPr>
        <p:spPr>
          <a:xfrm>
            <a:off x="566928" y="498348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5120640"/>
            <a:ext cx="548640" cy="54864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2" name="Image 3" descr="/private/tmp/claude-501/-Users-madhavkansal/2f529faf-ff43-4813-b977-f37533a75d11/scratchpad/revoltx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2" y="525231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888" y="50657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site rollout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389888" y="53492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supplements a weak grid connection — sites go live sooner.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6967728" y="1783080"/>
            <a:ext cx="4657039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104888" y="1892808"/>
            <a:ext cx="43827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52,718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7104888" y="2587752"/>
            <a:ext cx="43827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 charging stations in India (2026)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104888" y="2862072"/>
            <a:ext cx="4382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incl. 16,561 DC fast chargers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967728" y="3291840"/>
            <a:ext cx="4657039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104888" y="3401568"/>
            <a:ext cx="43827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₹2,000 Cr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7104888" y="4096512"/>
            <a:ext cx="43827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E-DRIVE outlay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104888" y="4370832"/>
            <a:ext cx="4382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72,300 new public chargers targeted by March 2028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967728" y="4800600"/>
            <a:ext cx="4657039" cy="914400"/>
          </a:xfrm>
          <a:prstGeom prst="roundRect">
            <a:avLst>
              <a:gd name="adj" fmla="val 90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150608" y="4800600"/>
            <a:ext cx="42912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fast-charging site is a candidate for a graded, second-life buffer battery.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infrastructure: Government of India public charging data (2026); PM E-DRIVE scheme outlay for public charger expansion by March 2028.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the 4th lane: solar street lighting.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75120" cy="2286000"/>
          </a:xfrm>
          <a:prstGeom prst="roundRect">
            <a:avLst>
              <a:gd name="adj" fmla="val 36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20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PACK, WORKED 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8FF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25296" y="22677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kWh pack retires at 70% SoH  →  14 kWh remaining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" y="26700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8FFF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25296" y="26700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reserve held back for battery health  →  11.2 kWh usable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" y="30723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8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25296" y="307238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W LED × 12 h/night ≈ 0.6 kWh/light/night (with system losses)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" y="3474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9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25296" y="347472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 kWh ÷ 0.6 kWh  ≈  18 street lights, powered for one night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25196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" y="43891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1,000-LIGHT PILOT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4681728"/>
            <a:ext cx="195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kWh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5528" y="5074920"/>
            <a:ext cx="195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energy for 1,000 lights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9128" y="4681728"/>
            <a:ext cx="195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packs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29128" y="5074920"/>
            <a:ext cx="195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20-kWh equivalents needed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62728" y="4681728"/>
            <a:ext cx="195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₹60L/yr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62728" y="5074920"/>
            <a:ext cx="195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@ ₹500/light/mo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62088" y="1783080"/>
            <a:ext cx="4062679" cy="4160520"/>
          </a:xfrm>
          <a:prstGeom prst="roundRect">
            <a:avLst>
              <a:gd name="adj" fmla="val 2026"/>
            </a:avLst>
          </a:prstGeom>
          <a:solidFill>
            <a:srgbClr val="10162A"/>
          </a:solidFill>
          <a:ln w="12700">
            <a:solidFill>
              <a:srgbClr val="39FF8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73388" y="2011680"/>
            <a:ext cx="640080" cy="640080"/>
          </a:xfrm>
          <a:prstGeom prst="ellipse">
            <a:avLst/>
          </a:prstGeom>
          <a:solidFill>
            <a:srgbClr val="39FF88">
              <a:alpha val="8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28" name="Image 0" descr="/private/tmp/claude-501/-Users-madhavkansal/2f529faf-ff43-4813-b977-f37533a75d11/scratchpad/revoltx/icons/street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408" y="2171700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744968" y="2788920"/>
            <a:ext cx="36969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Lighting-as-a-Service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818120" y="3200400"/>
            <a:ext cx="3550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sell a used battery. We sell a guaranteed, monitored, warrantied night of light — and Grade-C packs (30–60% SoH) that don’t fit any other market finally have a home.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836408" y="4709160"/>
            <a:ext cx="351403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18120" y="4846320"/>
            <a:ext cx="3550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extends to traffic signals &amp; emergency lighting — every remaining watt-hour finds a job before recycling.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&amp; pilot figures: PS6 concept report §5–7 — deliberately simple hackathon planning assumptions, not vendor quotations.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ways this platform earns — not just one sale.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997964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6" name="Image 0" descr="/private/tmp/claude-501/-Users-madhavkansal/2f529faf-ff43-4813-b977-f37533a75d11/scratchpad/revoltx/icons/co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4" y="210083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procurement margin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252728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at a SoH-indexed price, resell certified at a premium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78808" y="1783080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6824" y="1997964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1" name="Image 1" descr="/private/tmp/claude-501/-Users-madhavkansal/2f529faf-ff43-4813-b977-f37533a75d11/scratchpad/revoltx/icons/to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9694" y="210083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64608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Refurbishment service fees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64608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OEMs &amp; fleets that want their own packs refurbished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2843784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" y="3058668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6" name="Image 2" descr="/private/tmp/claude-501/-Users-madhavkansal/2f529faf-ff43-4813-b977-f37533a75d11/scratchpad/revoltx/icons/exchange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14" y="316153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2728" y="29169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commission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252728" y="3209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 fee between graded supply and enterprise buyers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178808" y="2843784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06824" y="3058668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1" name="Image 3" descr="/private/tmp/claude-501/-Users-madhavkansal/2f529faf-ff43-4813-b977-f37533a75d11/scratchpad/revoltx/icons/certific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9694" y="316153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64608" y="29169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certification fee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864608" y="3209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Health-check &amp; grading as a service, no sale required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66928" y="3904488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4119372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6" name="Image 4" descr="/private/tmp/claude-501/-Users-madhavkansal/2f529faf-ff43-4813-b977-f37533a75d11/scratchpad/revoltx/icons/filecontr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814" y="422224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52728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&amp; insurance plans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252728" y="4270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protection revenue on every deployed unit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178808" y="3904488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06824" y="4119372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31" name="Image 5" descr="/private/tmp/claude-501/-Users-madhavkansal/2f529faf-ff43-4813-b977-f37533a75d11/scratchpad/revoltx/icons/indust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9694" y="422224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64608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battery sales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864608" y="4270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B2B sales to telecom, solar EPC &amp; charging operators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66928" y="4965192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4944" y="5180076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36" name="Image 6" descr="/private/tmp/claude-501/-Users-madhavkansal/2f529faf-ff43-4813-b977-f37533a75d11/scratchpad/revoltx/icons/tru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814" y="5282946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52728" y="5038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Logistics-as-a-service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252728" y="5330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Reverse-logistics fee for OEM &amp; fleet partners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4178808" y="4965192"/>
            <a:ext cx="3337560" cy="886968"/>
          </a:xfrm>
          <a:prstGeom prst="roundRect">
            <a:avLst>
              <a:gd name="adj" fmla="val 8247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306824" y="5180076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41" name="Image 7" descr="/private/tmp/claude-501/-Users-madhavkansal/2f529faf-ff43-4813-b977-f37533a75d11/scratchpad/revoltx/icons/recyc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9694" y="5282946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864608" y="5038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&amp; EPR credit revenue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4864608" y="5330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recovery plus EPR-compliance certificates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7882128" y="1783080"/>
            <a:ext cx="3742639" cy="4160520"/>
          </a:xfrm>
          <a:prstGeom prst="roundRect">
            <a:avLst>
              <a:gd name="adj" fmla="val 2199"/>
            </a:avLst>
          </a:prstGeom>
          <a:solidFill>
            <a:srgbClr val="10162A"/>
          </a:solidFill>
          <a:ln w="12700">
            <a:solidFill>
              <a:srgbClr val="39FF8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8110728" y="1965960"/>
            <a:ext cx="3285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ANCHOR CASE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8110728" y="2286000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street lights</a:t>
            </a:r>
            <a:endParaRPr lang="en-US" sz="1700" dirty="0"/>
          </a:p>
        </p:txBody>
      </p:sp>
      <p:sp>
        <p:nvSpPr>
          <p:cNvPr id="47" name="Text 37"/>
          <p:cNvSpPr/>
          <p:nvPr/>
        </p:nvSpPr>
        <p:spPr>
          <a:xfrm>
            <a:off x="8110728" y="2651760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Lighting-as-a-Service contract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8110728" y="3017520"/>
            <a:ext cx="328543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8110728" y="3154680"/>
            <a:ext cx="3285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</a:t>
            </a:r>
            <a:endParaRPr lang="en-US" sz="2600" dirty="0"/>
          </a:p>
        </p:txBody>
      </p:sp>
      <p:sp>
        <p:nvSpPr>
          <p:cNvPr id="50" name="Text 40"/>
          <p:cNvSpPr/>
          <p:nvPr/>
        </p:nvSpPr>
        <p:spPr>
          <a:xfrm>
            <a:off x="8110728" y="3593592"/>
            <a:ext cx="3285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light, per month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8110728" y="3931920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₹5,00,000/mo</a:t>
            </a:r>
            <a:endParaRPr lang="en-US" sz="1600" dirty="0"/>
          </a:p>
        </p:txBody>
      </p:sp>
      <p:sp>
        <p:nvSpPr>
          <p:cNvPr id="52" name="Text 42"/>
          <p:cNvSpPr/>
          <p:nvPr/>
        </p:nvSpPr>
        <p:spPr>
          <a:xfrm>
            <a:off x="8110728" y="4279392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₹60,00,000/yr</a:t>
            </a:r>
            <a:endParaRPr lang="en-US" sz="1600" dirty="0"/>
          </a:p>
        </p:txBody>
      </p:sp>
      <p:sp>
        <p:nvSpPr>
          <p:cNvPr id="53" name="Text 43"/>
          <p:cNvSpPr/>
          <p:nvPr/>
        </p:nvSpPr>
        <p:spPr>
          <a:xfrm>
            <a:off x="8110728" y="4754880"/>
            <a:ext cx="3285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pricing assumption — to be validated against municipal procurement rates and CAPEX.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scenario per PS6 concept report §10 (Lighting-as-a-Service) — a conceptual planning input, not a signed contract.</a:t>
            </a:r>
            <a:endParaRPr lang="en-US" sz="850" dirty="0"/>
          </a:p>
        </p:txBody>
      </p:sp>
      <p:sp>
        <p:nvSpPr>
          <p:cNvPr id="55" name="Text 45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compete with the kabadiwala. We replace the gap he leaves.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2804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Scrap Dealer / Kabadiwala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ReVoltX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basis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Flat, by weight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SoH-indexed — up to 2–3× higher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testing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BMS + thermal diagnostics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Battery Passport + QR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Warranty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Grade-matched warranty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In-transit + performance-backed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Untracked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digital chain-of-custody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network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Informal, unverified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Telecom, solar &amp; charging enterprises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handling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Unregulated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Certified hazmat-compliant logistics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End-of-life path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improper disposal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9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EPR-compliant certified recycling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74920"/>
            <a:ext cx="3503066" cy="914400"/>
          </a:xfrm>
          <a:prstGeom prst="roundRect">
            <a:avLst>
              <a:gd name="adj" fmla="val 90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" y="5193792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2–3×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5528" y="5687568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payout than scrap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4314" y="5074920"/>
            <a:ext cx="3503066" cy="914400"/>
          </a:xfrm>
          <a:prstGeom prst="roundRect">
            <a:avLst>
              <a:gd name="adj" fmla="val 90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914" y="5193792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of 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914" y="5687568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dimensions covered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21701" y="5074920"/>
            <a:ext cx="3503066" cy="914400"/>
          </a:xfrm>
          <a:prstGeom prst="roundRect">
            <a:avLst>
              <a:gd name="adj" fmla="val 9000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50301" y="5193792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50301" y="5687568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batteries sold blind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structure per PS6 concept report §13 — competitive positioning.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&amp; RISK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3200" dirty="0">
                <a:solidFill>
                  <a:schemeClr val="bg1"/>
                </a:solidFill>
              </a:rPr>
              <a:t>“Known Risks, Engineered Mitigations."</a:t>
            </a:r>
            <a:endParaRPr lang="en-US" sz="3000" dirty="0">
              <a:solidFill>
                <a:schemeClr val="bg1"/>
              </a:solidFill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54591"/>
              </p:ext>
            </p:extLst>
          </p:nvPr>
        </p:nvGraphicFramePr>
        <p:xfrm>
          <a:off x="566928" y="1737360"/>
          <a:ext cx="11057839" cy="22936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7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ReVoltX Mitigation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failure after 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Certification, module-level testing, warranty reserve, remote monitoring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event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Unsafe packs rejected at intake; proper BMS/protection/thermal design; trained handling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battery history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passport + full diagnostics + conservative operating limits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buyer trust in "used" batteries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a certified, insured, warrantied asset or service — never a bare battery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Collection cost volatility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aggregation and regional hubs to consolidate loads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battery supply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Multi-OEM and multi-fleet sourcing, not one partner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End-of-life uncertainty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3D9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Predefined recycling pathway with chain-of-custody records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2578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 BEHIND EVERY MITIGATION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5559552"/>
            <a:ext cx="3503066" cy="777240"/>
          </a:xfrm>
          <a:prstGeom prst="roundRect">
            <a:avLst>
              <a:gd name="adj" fmla="val 9412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5660136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8" name="Image 0" descr="/private/tmp/claude-501/-Users-madhavkansal/2f529faf-ff43-4813-b977-f37533a75d11/scratchpad/revoltx/icons/filecon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4" y="5763006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5559552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 and warranty the outcome — not the raw cell</a:t>
            </a:r>
            <a:endParaRPr lang="en-US" sz="970" dirty="0"/>
          </a:p>
        </p:txBody>
      </p:sp>
      <p:sp>
        <p:nvSpPr>
          <p:cNvPr id="10" name="Shape 6"/>
          <p:cNvSpPr/>
          <p:nvPr/>
        </p:nvSpPr>
        <p:spPr>
          <a:xfrm>
            <a:off x="4344314" y="5559552"/>
            <a:ext cx="3503066" cy="777240"/>
          </a:xfrm>
          <a:prstGeom prst="roundRect">
            <a:avLst>
              <a:gd name="adj" fmla="val 9412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72330" y="5660136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2" name="Image 1" descr="/private/tmp/claude-501/-Users-madhavkansal/2f529faf-ff43-4813-b977-f37533a75d11/scratchpad/revoltx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200" y="576300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39258" y="5559552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every pack, every hop, from vehicle to redeployment</a:t>
            </a:r>
            <a:endParaRPr lang="en-US" sz="970" dirty="0"/>
          </a:p>
        </p:txBody>
      </p:sp>
      <p:sp>
        <p:nvSpPr>
          <p:cNvPr id="14" name="Shape 9"/>
          <p:cNvSpPr/>
          <p:nvPr/>
        </p:nvSpPr>
        <p:spPr>
          <a:xfrm>
            <a:off x="8121701" y="5559552"/>
            <a:ext cx="3503066" cy="777240"/>
          </a:xfrm>
          <a:prstGeom prst="roundRect">
            <a:avLst>
              <a:gd name="adj" fmla="val 9412"/>
            </a:avLst>
          </a:prstGeom>
          <a:solidFill>
            <a:srgbClr val="10162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49717" y="5660136"/>
            <a:ext cx="457200" cy="457200"/>
          </a:xfrm>
          <a:prstGeom prst="ellipse">
            <a:avLst/>
          </a:prstGeom>
          <a:solidFill>
            <a:srgbClr val="2F8FFF">
              <a:alpha val="85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6" name="Image 2" descr="/private/tmp/claude-501/-Users-madhavkansal/2f529faf-ff43-4813-b977-f37533a75d11/scratchpad/revoltx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587" y="5763006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16645" y="5559552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an unsafe pack reach a customer — reject it at intake</a:t>
            </a:r>
            <a:endParaRPr lang="en-US" sz="970" dirty="0"/>
          </a:p>
        </p:txBody>
      </p:sp>
      <p:sp>
        <p:nvSpPr>
          <p:cNvPr id="18" name="Text 12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framework per PS6 concept report §12 — liability &amp; risk management.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14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E90A13-50FA-0D58-8F56-6022ADC77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16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later beats recycling first — for the planet too.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38528"/>
            <a:ext cx="566928" cy="566928"/>
          </a:xfrm>
          <a:prstGeom prst="ellipse">
            <a:avLst/>
          </a:prstGeom>
          <a:solidFill>
            <a:srgbClr val="39FF88">
              <a:alpha val="85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6" name="Image 0" descr="/private/tmp/claude-501/-Users-madhavkansal/2f529faf-ff43-4813-b977-f37533a75d11/scratchpad/revoltx/icons/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208026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Defers virgin mining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26464" y="216712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extended pack life reduces near-term demand for freshly mined lithium, cobalt and nickel.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566928" y="2788920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2944368"/>
            <a:ext cx="566928" cy="566928"/>
          </a:xfrm>
          <a:prstGeom prst="ellipse">
            <a:avLst/>
          </a:prstGeom>
          <a:solidFill>
            <a:srgbClr val="39FF88">
              <a:alpha val="85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1" name="Image 1" descr="/private/tmp/claude-501/-Users-madhavkansal/2f529faf-ff43-4813-b977-f37533a75d11/scratchpad/revoltx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08610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26464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embodied carbon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26464" y="317296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avoids the manufacturing carbon cost of a brand-new pack for the same job.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66928" y="3794760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3950208"/>
            <a:ext cx="566928" cy="566928"/>
          </a:xfrm>
          <a:prstGeom prst="ellipse">
            <a:avLst/>
          </a:prstGeom>
          <a:solidFill>
            <a:srgbClr val="39FF88">
              <a:alpha val="85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6" name="Image 2" descr="/private/tmp/claude-501/-Users-madhavkansal/2f529faf-ff43-4813-b977-f37533a75d11/scratchpad/revoltx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409194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26464" y="3886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Displaces diesel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26464" y="417880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telecom site moved off diesel backup cuts local emissions directly.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66928" y="4800600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4956048"/>
            <a:ext cx="566928" cy="566928"/>
          </a:xfrm>
          <a:prstGeom prst="ellipse">
            <a:avLst/>
          </a:prstGeom>
          <a:solidFill>
            <a:srgbClr val="39FF88">
              <a:alpha val="85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21" name="Image 3" descr="/private/tmp/claude-501/-Users-madhavkansal/2f529faf-ff43-4813-b977-f37533a75d11/scratchpad/revoltx/icons/recy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509778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26464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circular economy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26464" y="518464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stay in productive use longer — recycling becomes the last step, not the first.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7333488" y="1783080"/>
            <a:ext cx="4291279" cy="4023360"/>
          </a:xfrm>
          <a:prstGeom prst="roundRect">
            <a:avLst>
              <a:gd name="adj" fmla="val 2045"/>
            </a:avLst>
          </a:prstGeom>
          <a:solidFill>
            <a:srgbClr val="10162A"/>
          </a:solidFill>
          <a:ln w="12700">
            <a:solidFill>
              <a:srgbClr val="39FF8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562088" y="1965960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EPR MANDATE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562088" y="2286000"/>
            <a:ext cx="38340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200" dirty="0"/>
          </a:p>
        </p:txBody>
      </p:sp>
      <p:sp>
        <p:nvSpPr>
          <p:cNvPr id="27" name="Text 21"/>
          <p:cNvSpPr/>
          <p:nvPr/>
        </p:nvSpPr>
        <p:spPr>
          <a:xfrm>
            <a:off x="7562088" y="2880360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of EV &amp; portable batteries required by FY26–27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562088" y="3456432"/>
            <a:ext cx="383407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562088" y="3584448"/>
            <a:ext cx="38340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200" dirty="0"/>
          </a:p>
        </p:txBody>
      </p:sp>
      <p:sp>
        <p:nvSpPr>
          <p:cNvPr id="30" name="Text 24"/>
          <p:cNvSpPr/>
          <p:nvPr/>
        </p:nvSpPr>
        <p:spPr>
          <a:xfrm>
            <a:off x="7562088" y="4178808"/>
            <a:ext cx="3834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of EV batteries placed in the market required by FY27–28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562088" y="4846320"/>
            <a:ext cx="38340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 turns this compliance obligation into a supply pipeline for OEMs.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66928" y="65471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Battery Waste Management Rules, 2022 (EPR targets) — PIB / IEA policy database.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 to India’s largest second-life marketplace.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2490140" cy="3063240"/>
          </a:xfrm>
          <a:prstGeom prst="roundRect">
            <a:avLst>
              <a:gd name="adj" fmla="val 330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532888"/>
            <a:ext cx="212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1102" y="3154680"/>
            <a:ext cx="621792" cy="621792"/>
          </a:xfrm>
          <a:prstGeom prst="ellipse">
            <a:avLst/>
          </a:prstGeom>
          <a:solidFill>
            <a:srgbClr val="2F8FFF">
              <a:alpha val="88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7" name="Image 0" descr="/private/tmp/claude-501/-Users-madhavkansal/2f529faf-ff43-4813-b977-f37533a75d11/scratchpad/revoltx/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550" y="33101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931920"/>
            <a:ext cx="223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4453128"/>
            <a:ext cx="2124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grading, logistics &amp; buyer willingness to pay</a:t>
            </a:r>
            <a:endParaRPr lang="en-US" sz="1000" dirty="0"/>
          </a:p>
        </p:txBody>
      </p:sp>
      <p:pic>
        <p:nvPicPr>
          <p:cNvPr id="10" name="Image 1" descr="/private/tmp/claude-501/-Users-madhavkansal/2f529faf-ff43-4813-b977-f37533a75d11/scratchpad/revoltx/icons/chevron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508" y="377190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2828" y="2331720"/>
            <a:ext cx="2490140" cy="3063240"/>
          </a:xfrm>
          <a:prstGeom prst="roundRect">
            <a:avLst>
              <a:gd name="adj" fmla="val 330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05708" y="2532888"/>
            <a:ext cx="212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357002" y="3154680"/>
            <a:ext cx="621792" cy="621792"/>
          </a:xfrm>
          <a:prstGeom prst="ellipse">
            <a:avLst/>
          </a:prstGeom>
          <a:solidFill>
            <a:srgbClr val="2F8FFF">
              <a:alpha val="88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14" name="Image 2" descr="/private/tmp/claude-501/-Users-madhavkansal/2f529faf-ff43-4813-b977-f37533a75d11/scratchpad/revoltx/icon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450" y="331012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0844" y="3931920"/>
            <a:ext cx="223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Batteries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605708" y="4453128"/>
            <a:ext cx="2124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aggregation hubs, standardized second-life products</a:t>
            </a:r>
            <a:endParaRPr lang="en-US" sz="1000" dirty="0"/>
          </a:p>
        </p:txBody>
      </p:sp>
      <p:pic>
        <p:nvPicPr>
          <p:cNvPr id="17" name="Image 3" descr="/private/tmp/claude-501/-Users-madhavkansal/2f529faf-ff43-4813-b977-f37533a75d11/scratchpad/revoltx/icons/chevron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408" y="377190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78728" y="2331720"/>
            <a:ext cx="2490140" cy="3063240"/>
          </a:xfrm>
          <a:prstGeom prst="roundRect">
            <a:avLst>
              <a:gd name="adj" fmla="val 3305"/>
            </a:avLst>
          </a:prstGeom>
          <a:solidFill>
            <a:srgbClr val="141B2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461608" y="2532888"/>
            <a:ext cx="212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7212902" y="3154680"/>
            <a:ext cx="621792" cy="621792"/>
          </a:xfrm>
          <a:prstGeom prst="ellipse">
            <a:avLst/>
          </a:prstGeom>
          <a:solidFill>
            <a:srgbClr val="2F8FFF">
              <a:alpha val="88000"/>
            </a:srgbClr>
          </a:solidFill>
          <a:ln w="12700">
            <a:solidFill>
              <a:srgbClr val="2F8FFF"/>
            </a:solidFill>
            <a:prstDash val="solid"/>
          </a:ln>
        </p:spPr>
      </p:sp>
      <p:pic>
        <p:nvPicPr>
          <p:cNvPr id="21" name="Image 4" descr="/private/tmp/claude-501/-Users-madhavkansal/2f529faf-ff43-4813-b977-f37533a75d11/scratchpad/revoltx/icons/c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8350" y="331012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6744" y="3931920"/>
            <a:ext cx="223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Expansion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461608" y="4453128"/>
            <a:ext cx="2124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Multi-city hubs near dense EV, fleet &amp; service clusters</a:t>
            </a:r>
            <a:endParaRPr lang="en-US" sz="1000" dirty="0"/>
          </a:p>
        </p:txBody>
      </p:sp>
      <p:pic>
        <p:nvPicPr>
          <p:cNvPr id="24" name="Image 5" descr="/private/tmp/claude-501/-Users-madhavkansal/2f529faf-ff43-4813-b977-f37533a75d11/scratchpad/revoltx/icons/chevron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307" y="377190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34627" y="2331720"/>
            <a:ext cx="2490140" cy="3063240"/>
          </a:xfrm>
          <a:prstGeom prst="roundRect">
            <a:avLst>
              <a:gd name="adj" fmla="val 3305"/>
            </a:avLst>
          </a:prstGeom>
          <a:solidFill>
            <a:srgbClr val="10162A"/>
          </a:solidFill>
          <a:ln w="12700">
            <a:solidFill>
              <a:srgbClr val="39FF8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9317507" y="2532888"/>
            <a:ext cx="212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2400" dirty="0"/>
          </a:p>
        </p:txBody>
      </p:sp>
      <p:sp>
        <p:nvSpPr>
          <p:cNvPr id="27" name="Shape 19"/>
          <p:cNvSpPr/>
          <p:nvPr/>
        </p:nvSpPr>
        <p:spPr>
          <a:xfrm>
            <a:off x="10068801" y="3154680"/>
            <a:ext cx="621792" cy="621792"/>
          </a:xfrm>
          <a:prstGeom prst="ellipse">
            <a:avLst/>
          </a:prstGeom>
          <a:solidFill>
            <a:srgbClr val="39FF88">
              <a:alpha val="8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28" name="Image 6" descr="/private/tmp/claude-501/-Users-madhavkansal/2f529faf-ff43-4813-b977-f37533a75d11/scratchpad/revoltx/icons/med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4249" y="331012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62643" y="3931920"/>
            <a:ext cx="223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Leadership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9317507" y="4453128"/>
            <a:ext cx="2124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largest second-life EV battery marketplace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1167567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9521647" y="6547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5724" y="1225296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Website 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https://revoltx.vercel.app/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-175303" y="172789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Instagram ID:</a:t>
            </a: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https://www.instagram.com/revoltx.iitians?igsh=ZHA0eHoxN2FlOHly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GitHub: </a:t>
            </a:r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  <a:hlinkClick r:id="rId5"/>
              </a:rPr>
              <a:t>https://github.com/madhavknsl/ReVoltX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627936" y="2994987"/>
            <a:ext cx="585216" cy="585216"/>
          </a:xfrm>
          <a:prstGeom prst="ellipse">
            <a:avLst/>
          </a:prstGeom>
          <a:solidFill>
            <a:srgbClr val="2F8FFF">
              <a:alpha val="90000"/>
            </a:srgbClr>
          </a:solidFill>
          <a:ln w="12700">
            <a:solidFill>
              <a:srgbClr val="2F8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/private/tmp/claude-501/-Users-madhavkansal/2f529faf-ff43-4813-b977-f37533a75d11/scratchpad/revoltx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1778" y="3167857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236765" y="3629514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ReVoltX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-175303" y="41157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C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Tomorrow. Extending Every Battery.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68400" y="4598773"/>
            <a:ext cx="201168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14304" y="4622407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D3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retired battery has a second life. We make sure India is the one who captures it.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-175304" y="563270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2310</Words>
  <Application>Microsoft Office PowerPoint</Application>
  <PresentationFormat>Widescreen</PresentationFormat>
  <Paragraphs>398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ReVoltX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ReVoltX</dc:creator>
  <cp:lastModifiedBy>Anshika Saxena</cp:lastModifiedBy>
  <cp:revision>13</cp:revision>
  <dcterms:created xsi:type="dcterms:W3CDTF">2026-08-08T00:00:27Z</dcterms:created>
  <dcterms:modified xsi:type="dcterms:W3CDTF">2026-08-08T13:24:42Z</dcterms:modified>
</cp:coreProperties>
</file>